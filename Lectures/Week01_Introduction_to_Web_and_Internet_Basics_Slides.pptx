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Open by asking the class: 'What actually happens between clicking a link and seeing a page?' Collect 2-3 answers on the board without correcting them yet — we'll return to this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through objectives quickly — these map directly to the handout's section 1. Emphasize objective 6: this lecture is deliberately code-light.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distinction of the lecture. Ask: 'Can you use the Internet without using the Web?' (Yes — email, gaming.) Can you use the Web without the Internet? (No.)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today's lecture lives mostly at the top layer (HTTP, DNS) — the bottom two layers exist so the top layer doesn't have to worry about physical delivery.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real time here — this misconception is extremely common even among students who've used computers their whole lives. Revisit it again at the end of the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quickly through this — it's context, not exam material. Land on the last box: 'everything from Week 10 onward is standing on this timeline.'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postal analogy on the board live if possible. Key terms to define out loud: IP address, packet, router, ISP, protocol.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visual payoff of the postal analogy from the previous slide. Ask: 'how many hops do you think it takes to reach a server in another country?' before revealing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this line by line before students run their own. The big timing jump is the teaching moment — connect it back to the CDN discussion later in section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Live-demo this on the projector first, then have students run it themselves. Compare a local (.pk) site vs an international one if time allows — great lead-in for the CDN discussion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slide — return to this exact picture mentally in Week 8 (Fetch) and Week 11 (Express) when the same request/response shape reappears in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numbered box left to right. This diagram matches Table in section 5.2 of the handout exactly — keep the terminology identical.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Think-Pair-Share: 60 seconds solo, 60 seconds with a partner, then cold-call 2 pairs. Correct answer: the browser only has a domain name, not an address to connect to — DNS supplies the IP address needed to open a connection.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Underline: the fragment (#...) never leaves the browser. This trips students up later when they wonder why server logs never show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left to right, matching the table on the previous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URL students recognize (their own university) — this lands better than a generic example.mozilla.org placeholder.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Numbered arrows 1-4 show the outbound lookup; the return arrow shows the answer coming back. This is what the nslookup demo makes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prediction-then-verify exercise — ask students to guess the output format before running it a second time on a different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'non-authoritative' back to the DNS flow diagram — caching is what lets the resolver skip steps 2-4 most of the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Foreshadow: 'you will see this identical shape again in Week 8 and Week 11 — memorize the pattern now, not the syntax.'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shape reappears in Week 8 (Fetch API) and Week 11 (Express routes) — say so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projecting, consider splitting this into two separate code slides for readability, or zoom in. Keep pointing back to the 5-shape list from the previous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pass only — full depth comes later in the course. The goal today is pattern recognition: first digit tells you who's at 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Short, punchy — this is a habit-forming message more than a technical deep-dive. TLS internals are out of scope for this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 on the projector first with a site students recognize. Then have everyone repeat it on their own laptop.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bridge into this week's lab (Lab 1: HTML Basics) and into Week 10 (Node.js), where file:// becomes http://. Make that connection explicit.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card to a concrete Pakistani or global company students will recognize. This is also a light career-relevance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— 2-3 minutes max. The point is to connect today's foundational material to something current, not to teach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to the board answers from the opening question — compare what students said then vs. what they can say now. Preview Week 2: 'Advanced HTML and Forms' picks up exactly where hello.html left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206240"/>
            <a:ext cx="5029200" cy="50292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6F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· UNDERGRADUATE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241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the Web and Internet Basics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Building an accurate mental model before we write a single tag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5806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CLO2 (primary), CLO1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0" y="5806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– Understand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55280" y="5806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50 min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6263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Muhammad Sohail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2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675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difference between the Internet and the World Wide Web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data travels between a client and a server (packet, IP address, router, ISP)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parts of a URL and explain what DNS does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HTTP request–response cycle conceptually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browser DevTools and command-line tools to observe real network behaviour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architecture matters before syntax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1554480"/>
            <a:ext cx="4023360" cy="4754880"/>
          </a:xfrm>
          <a:prstGeom prst="roundRect">
            <a:avLst>
              <a:gd name="adj" fmla="val 2727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0" y="2194560"/>
            <a:ext cx="3474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website you build this semester — from a static page in Week 4 to a full MERN app in Week 16 — is a conversation between two computers held in this exact format.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0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Internet ≠ the Web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Internet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+ logical network: cables, Wi-Fi, satellites, routers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TCP/IP to move packets between devices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services run on it: Web, email, file transfer, gaming, video calls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4F7FA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737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Web (WWW)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331720"/>
            <a:ext cx="48463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application that runs on top of the Internet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documents (pages) addressed by URLs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using the HTTP protocol</a:t>
            </a:r>
            <a:endParaRPr lang="en-US" sz="1400" dirty="0"/>
          </a:p>
          <a:p>
            <a:pPr marL="203200" indent="-2032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1989–91 by Tim Berners-Lee at CERN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2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SIT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Protocol Stack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63093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69164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 —  HTTP, DNS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52360" y="1691640"/>
            <a:ext cx="4096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service is this? (the Web, name lookup)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630936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78892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 —  TCP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52360" y="2788920"/>
            <a:ext cx="4096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delivery, ordering, retransmission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6309360" cy="914400"/>
          </a:xfrm>
          <a:prstGeom prst="roundRect">
            <a:avLst>
              <a:gd name="adj" fmla="val 6000"/>
            </a:avLst>
          </a:prstGeom>
          <a:solidFill>
            <a:srgbClr val="2C5F7A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88620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 —  IP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52360" y="3886200"/>
            <a:ext cx="4096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and routing between networks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983480"/>
            <a:ext cx="6309360" cy="91440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98348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Access  —  Ethernet, Wi-Fi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52360" y="4983480"/>
            <a:ext cx="4096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raw bits over physical media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8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5806440"/>
          </a:xfrm>
          <a:prstGeom prst="roundRect">
            <a:avLst>
              <a:gd name="adj" fmla="val 1890"/>
            </a:avLst>
          </a:prstGeom>
          <a:solidFill>
            <a:srgbClr val="E4E7F2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2296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822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234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Internet and the Web are the same thing.”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9509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Reality: the Internet is infrastructure (cables, routers, TCP/IP). The Web is one application built on it — HTML documents, URLs, HTTP.</a:t>
            </a:r>
            <a:endParaRPr lang="en-US" sz="16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confusion happens: for most casual users, a browser is their only window onto the Internet, so the words feel interchangeable.</a:t>
            </a:r>
            <a:endParaRPr lang="en-US" sz="16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avoid it: always ask ‘which layer am I talking about?’ — network/physical, or application.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0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Very Short History of the Web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1865376" cy="2103120"/>
          </a:xfrm>
          <a:prstGeom prst="roundRect">
            <a:avLst>
              <a:gd name="adj" fmla="val 4902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481328" y="2331720"/>
            <a:ext cx="548640" cy="54864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81328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97180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520440"/>
            <a:ext cx="1591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ARPANET: first packet-switched network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88336" y="3429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08376" y="2651760"/>
            <a:ext cx="1865376" cy="2103120"/>
          </a:xfrm>
          <a:prstGeom prst="roundRect">
            <a:avLst>
              <a:gd name="adj" fmla="val 4902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3666744" y="2331720"/>
            <a:ext cx="548640" cy="54864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66744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145536" y="297180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1989–91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45536" y="3520440"/>
            <a:ext cx="1591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Berners-Lee invents HTML, HTTP, and the first browser/server at CERN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73752" y="3429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193792" y="2651760"/>
            <a:ext cx="1865376" cy="2103120"/>
          </a:xfrm>
          <a:prstGeom prst="roundRect">
            <a:avLst>
              <a:gd name="adj" fmla="val 4902"/>
            </a:avLst>
          </a:prstGeom>
          <a:solidFill>
            <a:srgbClr val="065A82"/>
          </a:solidFill>
          <a:ln/>
        </p:spPr>
      </p:sp>
      <p:sp>
        <p:nvSpPr>
          <p:cNvPr id="17" name="Shape 15"/>
          <p:cNvSpPr/>
          <p:nvPr/>
        </p:nvSpPr>
        <p:spPr>
          <a:xfrm>
            <a:off x="5852160" y="2331720"/>
            <a:ext cx="548640" cy="54864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30952" y="297180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1993–95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30952" y="3520440"/>
            <a:ext cx="1591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browser + JavaScript (1995) bring the Web to the mainstream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59168" y="3429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379208" y="2651760"/>
            <a:ext cx="1865376" cy="2103120"/>
          </a:xfrm>
          <a:prstGeom prst="roundRect">
            <a:avLst>
              <a:gd name="adj" fmla="val 4902"/>
            </a:avLst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8037576" y="2331720"/>
            <a:ext cx="548640" cy="54864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37576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516368" y="297180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2004+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16368" y="3520440"/>
            <a:ext cx="1591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“Web 2.0”: AJAX, social platforms, interactive pages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44584" y="3429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564624" y="2651760"/>
            <a:ext cx="1865376" cy="2103120"/>
          </a:xfrm>
          <a:prstGeom prst="roundRect">
            <a:avLst>
              <a:gd name="adj" fmla="val 4902"/>
            </a:avLst>
          </a:prstGeom>
          <a:solidFill>
            <a:srgbClr val="065A82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22992" y="2331720"/>
            <a:ext cx="548640" cy="54864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22992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701784" y="297180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2015–now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701784" y="3520440"/>
            <a:ext cx="1591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Node.js, MongoDB — the MERN stack this course teaches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35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INTERNET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Data Actually Travels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675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the postal system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device has a unique address — an IP address (like a house address)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messages are broken into small, independently-routable packets (like envelopes)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forward each packet toward its destination, one hop at a time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ISP is the on-ramp that connects you to this whole 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89520" y="1554480"/>
            <a:ext cx="4023360" cy="4754880"/>
          </a:xfrm>
          <a:prstGeom prst="roundRect">
            <a:avLst>
              <a:gd name="adj" fmla="val 2727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ANALOGY BREAKS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0" y="2194560"/>
            <a:ext cx="3474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Postal mail doesn't confirm delivery in real time. TCP does — it explicitly acknowledges each packet and re-sends anything lost. Keep this distinction; it matters later.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0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INTERNET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Packets Hop, They Don't Teleport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1865376" cy="2103120"/>
          </a:xfrm>
          <a:prstGeom prst="roundRect">
            <a:avLst>
              <a:gd name="adj" fmla="val 4902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481328" y="2331720"/>
            <a:ext cx="548640" cy="54864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81328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97180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520440"/>
            <a:ext cx="1591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88336" y="3429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08376" y="2651760"/>
            <a:ext cx="1865376" cy="2103120"/>
          </a:xfrm>
          <a:prstGeom prst="roundRect">
            <a:avLst>
              <a:gd name="adj" fmla="val 4902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3666744" y="2331720"/>
            <a:ext cx="548640" cy="54864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66744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145536" y="297180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45536" y="3520440"/>
            <a:ext cx="1591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(ISP)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73752" y="3429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193792" y="2651760"/>
            <a:ext cx="1865376" cy="2103120"/>
          </a:xfrm>
          <a:prstGeom prst="roundRect">
            <a:avLst>
              <a:gd name="adj" fmla="val 4902"/>
            </a:avLst>
          </a:prstGeom>
          <a:solidFill>
            <a:srgbClr val="065A82"/>
          </a:solidFill>
          <a:ln/>
        </p:spPr>
      </p:sp>
      <p:sp>
        <p:nvSpPr>
          <p:cNvPr id="17" name="Shape 15"/>
          <p:cNvSpPr/>
          <p:nvPr/>
        </p:nvSpPr>
        <p:spPr>
          <a:xfrm>
            <a:off x="5852160" y="2331720"/>
            <a:ext cx="548640" cy="54864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30952" y="297180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30952" y="3520440"/>
            <a:ext cx="1591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59168" y="3429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379208" y="2651760"/>
            <a:ext cx="1865376" cy="2103120"/>
          </a:xfrm>
          <a:prstGeom prst="roundRect">
            <a:avLst>
              <a:gd name="adj" fmla="val 4902"/>
            </a:avLst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8037576" y="2331720"/>
            <a:ext cx="548640" cy="54864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37576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516368" y="297180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16368" y="3520440"/>
            <a:ext cx="1591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(Backbone)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44584" y="3429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564624" y="2651760"/>
            <a:ext cx="1865376" cy="2103120"/>
          </a:xfrm>
          <a:prstGeom prst="roundRect">
            <a:avLst>
              <a:gd name="adj" fmla="val 4902"/>
            </a:avLst>
          </a:prstGeom>
          <a:solidFill>
            <a:srgbClr val="065A82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22992" y="2331720"/>
            <a:ext cx="548640" cy="54864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22992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701784" y="297180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701784" y="3520440"/>
            <a:ext cx="1591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35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5806440"/>
          </a:xfrm>
          <a:prstGeom prst="roundRect">
            <a:avLst>
              <a:gd name="adj" fmla="val 1890"/>
            </a:avLst>
          </a:prstGeom>
          <a:solidFill>
            <a:srgbClr val="EFE7F7"/>
          </a:solidFill>
          <a:ln w="19050">
            <a:solidFill>
              <a:srgbClr val="5B3A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22960"/>
            <a:ext cx="594360" cy="594360"/>
          </a:xfrm>
          <a:prstGeom prst="ellipse">
            <a:avLst/>
          </a:prstGeom>
          <a:solidFill>
            <a:srgbClr val="5B3A8E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822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▤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5B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234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Real traceroute Output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9509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192.168.1.1      2 ms  1 ms  1 ms   ← home router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10.55.10.1        8 ms  7 ms  9 ms   ← ISP gateway (Islamabad)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* * *                                 ← no reply (not broken)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72.14.204.1      96 ms 94 ms 95 ms   ← enters Google's network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142.250.xxx.xxx  97 ms 96 ms 98 ms   ← destination reached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jump from ~8 ms to ~96 ms between hops 2 and 4 is the international leg of the journey — that's the cost of leaving Pakistan's network.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0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 — 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the Path Your Data Takes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241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tracert developer.mozilla.org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macOS / Linux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traceroute developer.mozilla.org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5715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now. Count the hops. What just happened: each line is one router forwarding your packets closer to the destination — the postal analogy, made visible.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9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CLIENT–SERVER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Picture, the Whole Semester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291840" y="2286000"/>
            <a:ext cx="5577840" cy="2560320"/>
          </a:xfrm>
          <a:prstGeom prst="ellipse">
            <a:avLst/>
          </a:prstGeom>
          <a:solidFill>
            <a:srgbClr val="EAF4F6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0" y="265176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971800" y="3108960"/>
            <a:ext cx="6263640" cy="0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971800" y="2011680"/>
            <a:ext cx="6263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 →  GET /index.html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235440" y="4023360"/>
            <a:ext cx="-6263640" cy="0"/>
          </a:xfrm>
          <a:prstGeom prst="line">
            <a:avLst/>
          </a:prstGeom>
          <a:noFill/>
          <a:ln w="31750">
            <a:solidFill>
              <a:srgbClr val="21295C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971800" y="4709160"/>
            <a:ext cx="6263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Response  ←  200 OK + HTML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788920"/>
            <a:ext cx="2286000" cy="1554480"/>
          </a:xfrm>
          <a:prstGeom prst="roundRect">
            <a:avLst>
              <a:gd name="adj" fmla="val 7059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78892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(Browser)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235440" y="2788920"/>
            <a:ext cx="2286000" cy="1554480"/>
          </a:xfrm>
          <a:prstGeom prst="roundRect">
            <a:avLst>
              <a:gd name="adj" fmla="val 7059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9235440" y="278892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6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CLIENT–SERVER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Request / Response Cycle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1865376" cy="2103120"/>
          </a:xfrm>
          <a:prstGeom prst="roundRect">
            <a:avLst>
              <a:gd name="adj" fmla="val 4902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481328" y="2331720"/>
            <a:ext cx="548640" cy="54864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81328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97180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Type URL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520440"/>
            <a:ext cx="1591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(client) prepares a request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88336" y="3429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08376" y="2651760"/>
            <a:ext cx="1865376" cy="2103120"/>
          </a:xfrm>
          <a:prstGeom prst="roundRect">
            <a:avLst>
              <a:gd name="adj" fmla="val 4902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3666744" y="2331720"/>
            <a:ext cx="548640" cy="54864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66744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145536" y="297180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DNS Lookup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45536" y="3520440"/>
            <a:ext cx="1591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name resolved to an IP address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73752" y="3429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193792" y="2651760"/>
            <a:ext cx="1865376" cy="2103120"/>
          </a:xfrm>
          <a:prstGeom prst="roundRect">
            <a:avLst>
              <a:gd name="adj" fmla="val 4902"/>
            </a:avLst>
          </a:prstGeom>
          <a:solidFill>
            <a:srgbClr val="065A82"/>
          </a:solidFill>
          <a:ln/>
        </p:spPr>
      </p:sp>
      <p:sp>
        <p:nvSpPr>
          <p:cNvPr id="17" name="Shape 15"/>
          <p:cNvSpPr/>
          <p:nvPr/>
        </p:nvSpPr>
        <p:spPr>
          <a:xfrm>
            <a:off x="5852160" y="2331720"/>
            <a:ext cx="548640" cy="54864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30952" y="297180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Connect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30952" y="3520440"/>
            <a:ext cx="1591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opens a connection to that server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59168" y="3429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379208" y="2651760"/>
            <a:ext cx="1865376" cy="2103120"/>
          </a:xfrm>
          <a:prstGeom prst="roundRect">
            <a:avLst>
              <a:gd name="adj" fmla="val 4902"/>
            </a:avLst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8037576" y="2331720"/>
            <a:ext cx="548640" cy="54864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37576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516368" y="297180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Server Responds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16368" y="3520440"/>
            <a:ext cx="1591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processes and returns data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44584" y="3429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564624" y="2651760"/>
            <a:ext cx="1865376" cy="2103120"/>
          </a:xfrm>
          <a:prstGeom prst="roundRect">
            <a:avLst>
              <a:gd name="adj" fmla="val 4902"/>
            </a:avLst>
          </a:prstGeom>
          <a:solidFill>
            <a:srgbClr val="065A82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22992" y="2331720"/>
            <a:ext cx="548640" cy="548640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22992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701784" y="2971800"/>
            <a:ext cx="15910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Render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701784" y="3520440"/>
            <a:ext cx="1591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parses and displays the page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35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5806440"/>
          </a:xfrm>
          <a:prstGeom prst="roundRect">
            <a:avLst>
              <a:gd name="adj" fmla="val 1890"/>
            </a:avLst>
          </a:prstGeom>
          <a:solidFill>
            <a:srgbClr val="E4F3E9"/>
          </a:solidFill>
          <a:ln w="19050">
            <a:solidFill>
              <a:srgbClr val="1E6B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22960"/>
            <a:ext cx="594360" cy="594360"/>
          </a:xfrm>
          <a:prstGeom prst="ellipse">
            <a:avLst/>
          </a:prstGeom>
          <a:solidFill>
            <a:srgbClr val="1E6B3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822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E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AND CHECK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234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about it for 60 seconds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9509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Step 2 (DNS resolution) have to happen before Step 3 (opening a connection)?</a:t>
            </a:r>
            <a:endParaRPr lang="en-US" sz="16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browser need to know that it doesn't have yet after Step 1?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0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URLS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URL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840480"/>
                <a:gridCol w="5212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https://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protocol to 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developer.mozilla.org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name, resolved via DNS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/en-US/docs/Web/HTTP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resource on that server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String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?q=fetch+api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key–value parameters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#Examples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In-page location — never sent to the server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7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URLS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URL, Color-Coded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72718" y="2468880"/>
            <a:ext cx="1298448" cy="731520"/>
          </a:xfrm>
          <a:prstGeom prst="roundRect">
            <a:avLst>
              <a:gd name="adj" fmla="val 625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172718" y="2468880"/>
            <a:ext cx="12984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821942" y="3200400"/>
            <a:ext cx="0" cy="18288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2678" y="3401568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99182" y="2468880"/>
            <a:ext cx="2162556" cy="731520"/>
          </a:xfrm>
          <a:prstGeom prst="roundRect">
            <a:avLst>
              <a:gd name="adj" fmla="val 6250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2599182" y="2468880"/>
            <a:ext cx="21625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www.nust.edu.pk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680460" y="3200400"/>
            <a:ext cx="0" cy="182880"/>
          </a:xfrm>
          <a:prstGeom prst="line">
            <a:avLst/>
          </a:prstGeom>
          <a:noFill/>
          <a:ln w="19050">
            <a:solidFill>
              <a:srgbClr val="212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79142" y="3401568"/>
            <a:ext cx="28026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/ Domain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89754" y="2468880"/>
            <a:ext cx="2409444" cy="731520"/>
          </a:xfrm>
          <a:prstGeom prst="roundRect">
            <a:avLst>
              <a:gd name="adj" fmla="val 625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889754" y="2468880"/>
            <a:ext cx="24094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/admissions/apply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094476" y="3200400"/>
            <a:ext cx="0" cy="18288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9714" y="3401568"/>
            <a:ext cx="30495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27214" y="2468880"/>
            <a:ext cx="1915668" cy="731520"/>
          </a:xfrm>
          <a:prstGeom prst="roundRect">
            <a:avLst>
              <a:gd name="adj" fmla="val 6250"/>
            </a:avLst>
          </a:prstGeom>
          <a:solidFill>
            <a:srgbClr val="3E7C59"/>
          </a:solidFill>
          <a:ln/>
        </p:spPr>
      </p:sp>
      <p:sp>
        <p:nvSpPr>
          <p:cNvPr id="17" name="Text 15"/>
          <p:cNvSpPr/>
          <p:nvPr/>
        </p:nvSpPr>
        <p:spPr>
          <a:xfrm>
            <a:off x="7427214" y="2468880"/>
            <a:ext cx="19156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?campus=seecs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385048" y="3200400"/>
            <a:ext cx="0" cy="182880"/>
          </a:xfrm>
          <a:prstGeom prst="line">
            <a:avLst/>
          </a:prstGeom>
          <a:noFill/>
          <a:ln w="19050">
            <a:solidFill>
              <a:srgbClr val="3E7C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07174" y="3401568"/>
            <a:ext cx="25557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String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470898" y="2468880"/>
            <a:ext cx="1545336" cy="731520"/>
          </a:xfrm>
          <a:prstGeom prst="roundRect">
            <a:avLst>
              <a:gd name="adj" fmla="val 6250"/>
            </a:avLst>
          </a:prstGeom>
          <a:solidFill>
            <a:srgbClr val="C97A1E"/>
          </a:solidFill>
          <a:ln/>
        </p:spPr>
      </p:sp>
      <p:sp>
        <p:nvSpPr>
          <p:cNvPr id="21" name="Text 19"/>
          <p:cNvSpPr/>
          <p:nvPr/>
        </p:nvSpPr>
        <p:spPr>
          <a:xfrm>
            <a:off x="9470898" y="2468880"/>
            <a:ext cx="15453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#deadlines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10243566" y="3200400"/>
            <a:ext cx="0" cy="182880"/>
          </a:xfrm>
          <a:prstGeom prst="line">
            <a:avLst/>
          </a:prstGeom>
          <a:noFill/>
          <a:ln w="19050">
            <a:solidFill>
              <a:srgbClr val="C97A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50858" y="3401568"/>
            <a:ext cx="21854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26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5806440"/>
          </a:xfrm>
          <a:prstGeom prst="roundRect">
            <a:avLst>
              <a:gd name="adj" fmla="val 1890"/>
            </a:avLst>
          </a:prstGeom>
          <a:solidFill>
            <a:srgbClr val="EFE7F7"/>
          </a:solidFill>
          <a:ln w="19050">
            <a:solidFill>
              <a:srgbClr val="5B3A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22960"/>
            <a:ext cx="594360" cy="594360"/>
          </a:xfrm>
          <a:prstGeom prst="ellipse">
            <a:avLst/>
          </a:prstGeom>
          <a:solidFill>
            <a:srgbClr val="5B3A8E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822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▤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5B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234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Breaking Down a Real University URL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9509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https://www.nust.edu.pk/admissions/apply?campus=seecs#deadlines</a:t>
            </a:r>
            <a:endParaRPr lang="en-US" sz="16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 — encrypted HTTP; the browser shows a padlock</a:t>
            </a:r>
            <a:endParaRPr lang="en-US" sz="16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www.nust.edu.pk — the host to resolve via DNS and connect to</a:t>
            </a:r>
            <a:endParaRPr lang="en-US" sz="16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/admissions/apply — fetch the “apply” resource inside “admissions”</a:t>
            </a:r>
            <a:endParaRPr lang="en-US" sz="16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?campus=seecs — a parameter telling the server which campus's form to show</a:t>
            </a:r>
            <a:endParaRPr lang="en-US" sz="16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#deadlines — handled entirely in-browser; never sent to NUST's server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0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DNS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Domain Name Becomes an Address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942186" cy="1051560"/>
          </a:xfrm>
          <a:prstGeom prst="roundRect">
            <a:avLst>
              <a:gd name="adj" fmla="val 695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103120"/>
            <a:ext cx="179588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(Client)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82266" y="2628900"/>
            <a:ext cx="292608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582266" y="1810512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74874" y="2103120"/>
            <a:ext cx="1942186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948026" y="2103120"/>
            <a:ext cx="179588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Resolver (ISP)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17059" y="2628900"/>
            <a:ext cx="292608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817059" y="1810512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09667" y="2103120"/>
            <a:ext cx="1942186" cy="1051560"/>
          </a:xfrm>
          <a:prstGeom prst="roundRect">
            <a:avLst>
              <a:gd name="adj" fmla="val 6957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5182819" y="2103120"/>
            <a:ext cx="179588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DNS Server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51853" y="2628900"/>
            <a:ext cx="292608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051853" y="1810512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44461" y="2103120"/>
            <a:ext cx="1942186" cy="1051560"/>
          </a:xfrm>
          <a:prstGeom prst="roundRect">
            <a:avLst>
              <a:gd name="adj" fmla="val 6957"/>
            </a:avLst>
          </a:prstGeom>
          <a:solidFill>
            <a:srgbClr val="2C5F7A"/>
          </a:solidFill>
          <a:ln/>
        </p:spPr>
      </p:sp>
      <p:sp>
        <p:nvSpPr>
          <p:cNvPr id="17" name="Text 15"/>
          <p:cNvSpPr/>
          <p:nvPr/>
        </p:nvSpPr>
        <p:spPr>
          <a:xfrm>
            <a:off x="7417613" y="2103120"/>
            <a:ext cx="179588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TLD DNS Server (.pk)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286646" y="2628900"/>
            <a:ext cx="292608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286646" y="1810512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579254" y="2103120"/>
            <a:ext cx="1942186" cy="1051560"/>
          </a:xfrm>
          <a:prstGeom prst="roundRect">
            <a:avLst>
              <a:gd name="adj" fmla="val 6957"/>
            </a:avLst>
          </a:prstGeom>
          <a:solidFill>
            <a:srgbClr val="C97A1E"/>
          </a:solidFill>
          <a:ln/>
        </p:spPr>
      </p:sp>
      <p:sp>
        <p:nvSpPr>
          <p:cNvPr id="21" name="Text 19"/>
          <p:cNvSpPr/>
          <p:nvPr/>
        </p:nvSpPr>
        <p:spPr>
          <a:xfrm>
            <a:off x="9652406" y="2103120"/>
            <a:ext cx="179588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DNS Server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550347" y="3154680"/>
            <a:ext cx="-8939174" cy="141732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914400" y="4709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returned to the browser  →  connection opens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26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 — 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 a Domain Name Yourself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241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nslookup developer.mozilla.org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macOS / Linux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 developer.mozilla.org +short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5715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first: will github.com resolve the same way? Run it and compare. DNS is, in effect, the Internet's phone book.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9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5806440"/>
          </a:xfrm>
          <a:prstGeom prst="roundRect">
            <a:avLst>
              <a:gd name="adj" fmla="val 1890"/>
            </a:avLst>
          </a:prstGeom>
          <a:solidFill>
            <a:srgbClr val="EFE7F7"/>
          </a:solidFill>
          <a:ln w="19050">
            <a:solidFill>
              <a:srgbClr val="5B3A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22960"/>
            <a:ext cx="594360" cy="594360"/>
          </a:xfrm>
          <a:prstGeom prst="ellipse">
            <a:avLst/>
          </a:prstGeom>
          <a:solidFill>
            <a:srgbClr val="5B3A8E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822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▤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5B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234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Real nslookup Output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9509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   192.168.1.1        ← your local resolver, not MDN's server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Non-authoritative answer: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  developer.mozilla.org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Address: 34.107.221.82      ← the IP your browser connects to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“Non-authoritative” means your ISP answered from a cached copy of an earlier lookup — that's why DNS resolves in milliseconds, not seconds.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0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HTTP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HTTP: The Language of the Web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defines exactly how a request and response must be formatted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exchange has the same shape:</a:t>
            </a:r>
            <a:endParaRPr lang="en-US" sz="1600" dirty="0"/>
          </a:p>
          <a:p>
            <a:pPr lvl="1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 line</a:t>
            </a:r>
            <a:endParaRPr lang="en-US" sz="1600" dirty="0"/>
          </a:p>
          <a:p>
            <a:pPr lvl="1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fields (metadata)</a:t>
            </a:r>
            <a:endParaRPr lang="en-US" sz="1600" dirty="0"/>
          </a:p>
          <a:p>
            <a:pPr lvl="1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blank line</a:t>
            </a:r>
            <a:endParaRPr lang="en-US" sz="1600" dirty="0"/>
          </a:p>
          <a:p>
            <a:pPr lvl="1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optional body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shape reappears in Week 8 (Fetch API) and Week 11 (Express routes)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7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HTTP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an HTTP Message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12080" cy="4572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5212080" cy="566928"/>
          </a:xfrm>
          <a:prstGeom prst="roundRect">
            <a:avLst>
              <a:gd name="adj" fmla="val 6452"/>
            </a:avLst>
          </a:prstGeom>
          <a:solidFill>
            <a:srgbClr val="F4F7FA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4028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/index.html HTTP/1.1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663440" y="224028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line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898648"/>
            <a:ext cx="5212080" cy="566928"/>
          </a:xfrm>
          <a:prstGeom prst="roundRect">
            <a:avLst>
              <a:gd name="adj" fmla="val 6452"/>
            </a:avLst>
          </a:prstGeom>
          <a:solidFill>
            <a:srgbClr val="F4F7FA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89864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www.nust.edu.pk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63440" y="289864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557016"/>
            <a:ext cx="5212080" cy="566928"/>
          </a:xfrm>
          <a:prstGeom prst="roundRect">
            <a:avLst>
              <a:gd name="adj" fmla="val 6452"/>
            </a:avLst>
          </a:prstGeom>
          <a:solidFill>
            <a:srgbClr val="F4F7FA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557016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Accept: text/html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63440" y="3557016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4215384"/>
            <a:ext cx="5212080" cy="566928"/>
          </a:xfrm>
          <a:prstGeom prst="roundRect">
            <a:avLst>
              <a:gd name="adj" fmla="val 6452"/>
            </a:avLst>
          </a:prstGeom>
          <a:solidFill>
            <a:srgbClr val="F4F7FA"/>
          </a:solidFill>
          <a:ln w="1524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215384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(none for a GET request)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63440" y="4215384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1645920"/>
            <a:ext cx="5212080" cy="4572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6459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09360" y="2240280"/>
            <a:ext cx="5212080" cy="566928"/>
          </a:xfrm>
          <a:prstGeom prst="roundRect">
            <a:avLst>
              <a:gd name="adj" fmla="val 6452"/>
            </a:avLst>
          </a:prstGeom>
          <a:solidFill>
            <a:srgbClr val="F4F7FA"/>
          </a:solidFill>
          <a:ln w="15240">
            <a:solidFill>
              <a:srgbClr val="212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24028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 OK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332720" y="2240280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line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2898648"/>
            <a:ext cx="5212080" cy="566928"/>
          </a:xfrm>
          <a:prstGeom prst="roundRect">
            <a:avLst>
              <a:gd name="adj" fmla="val 6452"/>
            </a:avLst>
          </a:prstGeom>
          <a:solidFill>
            <a:srgbClr val="F4F7FA"/>
          </a:solidFill>
          <a:ln w="1524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2898648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text/html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332720" y="2898648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9360" y="3557016"/>
            <a:ext cx="5212080" cy="566928"/>
          </a:xfrm>
          <a:prstGeom prst="roundRect">
            <a:avLst>
              <a:gd name="adj" fmla="val 6452"/>
            </a:avLst>
          </a:prstGeom>
          <a:solidFill>
            <a:srgbClr val="F4F7FA"/>
          </a:solidFill>
          <a:ln w="15240">
            <a:solidFill>
              <a:srgbClr val="2129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557016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Content-Length: 48213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332720" y="3557016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09360" y="4215384"/>
            <a:ext cx="5212080" cy="566928"/>
          </a:xfrm>
          <a:prstGeom prst="roundRect">
            <a:avLst>
              <a:gd name="adj" fmla="val 6452"/>
            </a:avLst>
          </a:prstGeom>
          <a:solidFill>
            <a:srgbClr val="F4F7FA"/>
          </a:solidFill>
          <a:ln w="15240">
            <a:solidFill>
              <a:srgbClr val="2129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4215384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 ...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332720" y="4215384"/>
            <a:ext cx="109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34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EXCHANGE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and Response, Side by Side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241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/en-US/docs/Web/HTTP HTTP/1.1        HTTP/1.1 200 OK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developer.mozilla.org               Content-Type: text/html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Accept: text/html                         Content-Length: 48213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(request)                          (response)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5715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 line, headers, a blank line, then an optional body — on both sides of the conversation.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9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— COVERED IN DEPTH LATER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Status Codes at a Glance</a:t>
            </a:r>
            <a:endParaRPr lang="en-US" sz="27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93776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2xx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3xx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Redirection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301 Moved Permanently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4xx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 Not Found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5xx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Internal Server 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7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5806440"/>
          </a:xfrm>
          <a:prstGeom prst="roundRect">
            <a:avLst>
              <a:gd name="adj" fmla="val 1890"/>
            </a:avLst>
          </a:prstGeom>
          <a:solidFill>
            <a:srgbClr val="EFE7F7"/>
          </a:solidFill>
          <a:ln w="19050">
            <a:solidFill>
              <a:srgbClr val="5B3A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22960"/>
            <a:ext cx="594360" cy="594360"/>
          </a:xfrm>
          <a:prstGeom prst="ellipse">
            <a:avLst/>
          </a:prstGeom>
          <a:solidFill>
            <a:srgbClr val="5B3A8E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822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▤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5B3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234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vs. HTTPS — Same Shape, Different Guarantee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9509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send the identical request/response shape — the difference is what happens to the bytes in between.</a:t>
            </a:r>
            <a:endParaRPr lang="en-US" sz="14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 travels in plain text — any router or Wi-Fi hotspot along the path could read or alter it</a:t>
            </a:r>
            <a:endParaRPr lang="en-US" sz="14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 the same message is wrapped in encryption (TLS) before it leaves the browser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Week 13 (Authentication) onward, your forms transmit real passwords — check for the padlock, always.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0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5806440"/>
          </a:xfrm>
          <a:prstGeom prst="roundRect">
            <a:avLst>
              <a:gd name="adj" fmla="val 1890"/>
            </a:avLst>
          </a:prstGeom>
          <a:solidFill>
            <a:srgbClr val="EAF4F6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229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822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▶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234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Watch a Real HTTP Exchange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9509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DevTools (F12) → Network tab → reload any page</a:t>
            </a:r>
            <a:endParaRPr lang="en-US" sz="16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first request in the list</a:t>
            </a:r>
            <a:endParaRPr lang="en-US" sz="16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Request Method, Status Code, and Response Headers</a:t>
            </a:r>
            <a:endParaRPr lang="en-US" sz="1600" dirty="0"/>
          </a:p>
          <a:p>
            <a:pPr marL="203200" indent="-2032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what you see against the request/response shape from the previous slides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0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 — STEP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HTML Document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102412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lang="en"&gt;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&lt;head&gt;&lt;meta charset="UTF-8"&gt;&lt;title&gt;My First Page&lt;/title&gt;&lt;/head&gt;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&lt;h1&gt;Hello, Web!&lt;/h1&gt;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&lt;p&gt;This file is opened directly — no server involved yet.&lt;/p&gt;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57150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hello.html and open it in a browser. Notice the URL bar shows file:// — there is no HTTP request happening at all here.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9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Shows Up in Industry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4424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2377440"/>
            <a:ext cx="3041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2715768"/>
            <a:ext cx="30419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PTCL, Jazz, StormFiber — manage the physical/routing layer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8640" y="1600200"/>
            <a:ext cx="344424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59808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559808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59808" y="2377440"/>
            <a:ext cx="3041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Providers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59808" y="2715768"/>
            <a:ext cx="30419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Cloudflare, Google DNS — billions of lookups/day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77200" y="1600200"/>
            <a:ext cx="344424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78368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78368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78368" y="2377440"/>
            <a:ext cx="3041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78368" y="2715768"/>
            <a:ext cx="30419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Cloudflare, Akamai — reduce hops, speed up responses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344424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" y="41605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1248" y="4754880"/>
            <a:ext cx="3041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Vendors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41248" y="5093208"/>
            <a:ext cx="30419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Firefox, Safari — build the rendering engines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58640" y="3977640"/>
            <a:ext cx="344424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4559808" y="41605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559808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59808" y="4754880"/>
            <a:ext cx="3041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59808" y="5093208"/>
            <a:ext cx="30419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server side of the cycle you just watched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77200" y="3977640"/>
            <a:ext cx="3444240" cy="2103120"/>
          </a:xfrm>
          <a:prstGeom prst="roundRect">
            <a:avLst>
              <a:gd name="adj" fmla="val 3478"/>
            </a:avLst>
          </a:prstGeom>
          <a:solidFill>
            <a:srgbClr val="F4F7FA"/>
          </a:solidFill>
          <a:ln/>
        </p:spPr>
      </p:sp>
      <p:sp>
        <p:nvSpPr>
          <p:cNvPr id="30" name="Shape 28"/>
          <p:cNvSpPr/>
          <p:nvPr/>
        </p:nvSpPr>
        <p:spPr>
          <a:xfrm>
            <a:off x="8278368" y="41605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8278368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278368" y="4754880"/>
            <a:ext cx="30419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You, in 15 Weeks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78368" y="5093208"/>
            <a:ext cx="30419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MERN stack that sits on top of all of this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36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064240" cy="5806440"/>
          </a:xfrm>
          <a:prstGeom prst="roundRect">
            <a:avLst>
              <a:gd name="adj" fmla="val 1890"/>
            </a:avLst>
          </a:prstGeom>
          <a:solidFill>
            <a:srgbClr val="EAF4F6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229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822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▶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4592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2344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Extension — The Web in the Age of AI (optional, not exam material)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874520"/>
            <a:ext cx="9509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browsing assistants (ChatGPT browsing, Perplexity) still use HTTP requests to fetch and parse pages — the exact cycle you watched today, automated at scale</a:t>
            </a:r>
            <a:endParaRPr lang="en-US" sz="16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sites publish robots.txt and structured data — they're speaking to automated clients, not just humans</a:t>
            </a:r>
            <a:endParaRPr lang="en-US" sz="16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Week 11 onward, remember: an API you build might be called by a human app, another server, or an AI agent — the HTTP contract is identical either way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10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241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 is infrastructure; the Web is one application on top of it</a:t>
            </a:r>
            <a:endParaRPr lang="en-US" sz="1600" dirty="0"/>
          </a:p>
          <a:p>
            <a:pPr marL="254000" indent="-2540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Web interaction is client requests, server responds, formatted by HTTP</a:t>
            </a:r>
            <a:endParaRPr lang="en-US" sz="1600" dirty="0"/>
          </a:p>
          <a:p>
            <a:pPr marL="254000" indent="-2540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URL has purposeful parts: scheme, host, path, query string, fragment</a:t>
            </a:r>
            <a:endParaRPr lang="en-US" sz="1600" dirty="0"/>
          </a:p>
          <a:p>
            <a:pPr marL="254000" indent="-2540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translates names humans use into addresses machines use</a:t>
            </a:r>
            <a:endParaRPr lang="en-US" sz="1600" dirty="0"/>
          </a:p>
          <a:p>
            <a:pPr marL="254000" indent="-2540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600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file:// (today) is not the same as http:// (from Week 10 onward) — that gap is what the rest of the course closes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5288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CS-313 Web Engineering — UG — Week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716768" y="128016"/>
            <a:ext cx="1307592" cy="583710"/>
          </a:xfrm>
          <a:prstGeom prst="roundRect">
            <a:avLst>
              <a:gd name="adj" fmla="val 93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5B6472">
                <a:alpha val="30000"/>
              </a:srgbClr>
            </a:outerShdw>
          </a:effectLst>
        </p:spPr>
      </p:sp>
      <p:pic>
        <p:nvPicPr>
          <p:cNvPr id="7" name="Image 0" descr="/tmp/eduforge/assets/nus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4" y="219456"/>
            <a:ext cx="1051560" cy="4008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EduForge</dc:creator>
  <cp:lastModifiedBy>EduForge</cp:lastModifiedBy>
  <cp:revision>1</cp:revision>
  <dcterms:created xsi:type="dcterms:W3CDTF">2026-08-25T13:41:55Z</dcterms:created>
  <dcterms:modified xsi:type="dcterms:W3CDTF">2026-08-25T13:41:55Z</dcterms:modified>
</cp:coreProperties>
</file>