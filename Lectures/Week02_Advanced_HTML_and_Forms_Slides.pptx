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Open by asking: 'Show of hands — who built their whole hello.html page out of &lt;div&gt; tags in Lab 1?' Most hands go up. That's today's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through quickly — these map to handout section 1. Flag objective 1 as the big one: today is about breaking the div-soup habit.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lot of the class looks unsure, spend 3-4 minutes rebuilding hello.html together on the board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'if I hide the CSS, which one still tells you something useful?' This is the whole lesson in one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habit to break today. Revisit it explicitly when reviewing the Try It Yourself submissions.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at a steady pace — students will reference this table constantly during the Try It exercise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&lt;div&gt; was needed anywhere in this layout. Point out that every box here is a native, editable shape — this is the exact skeleton students build in the next Try It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line pair. The visual output can be made pixel-identical with CSS — the difference is entirely in meaning, not appearance.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Live-code this together first, then have students repeat it independently. This is the anchor exercise for the whole first half of the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short section — move quickly. The main new idea is thead/tbody.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anatomy diagram that follows — this slide is definitions, the next slide is the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block is a real, editable shape — walk left to right, matching the anatomy in the handout's Figure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the click-to-focus behaviour live — it's the fastest way for students to self-check their own for/id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reference table (11 types) is in the handout. Emphasize: the right type gives you validation and UI for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session's main hands-on activity — budget real time for it. Circulate and check label/for pairing as students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each attribute live by trying to submit an invalid form. This is a usability layer, not security — say that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but important — plant this seed now so Week 13 lands as confirmation, not new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Matches the GET vs POST table in the handout exactly — keep terminology identical. This distinction resurfaces in Week 11 (Express routes).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Think-Pair-Share: 60 seconds solo, 60 with a partner, cold-call 2 pairs. Correct answer: search=GET (safe, bookmarkable), login=POST (changes/reveals sensitive state, must not sit in browser history).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it's a rounding-out section, not a major new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Matches the handout's Instructor Package scope note. Say this out loud to the class too — it removes the pressure to memorise everything on 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highest-value comparison in sections 6-7 — if you demo only one, demo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'if both look the same, why does the tag choice matter?' — answer: for anything that isn't looking at pixels.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pass — these are intuitive once seen rendered.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automatic yellow highlight — that's default browser styling, zero CSS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example — move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quick, satisfying visual — students immediately recognize this from tracked-changes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confusion point — emphasize that &lt;q&gt; never needs manual quote-mark characters.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type " " yourself around a &lt;q&gt; — the browser inserts locale-appropriate quote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dotted underline convention — students will now recognize it on real sites.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live hover demo on the projector lands better than the static screenshot alone,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this to the handout's own Key Terminology tables — those are conceptually description 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frequently forgotten list type — worth naming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pass — note that &lt;code&gt;/&lt;pre&gt; have been visible in every code slide all lecture, so this is confirmation, not new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immediately useful new tag today — FAQ pages everywhere use exactly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Live-demo this by actually clicking it in a browser if you have one open — the click interaction is the whole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more visually similar tags with genuinely different meanings — same theme as section 6.1.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both are natively styled by the browser — no CSS required for a working progress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color difference is a real browser default, not something we styled — worth pointing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colspan and rowspan against the rendered table on the next slide — the merge is easy to see once rendered.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table style students should aim for in any assignment that needs merged cells.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security note is worth emphasizing explicitly — this is a documented phishing vector, not a style nitpick.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of these four have students already used without knowing the underlying attribute?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screenshot needed — the effect is about which file loads, not what renders. Mention this is a standard Lighthouse audit checkpoint.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Recognition only today — these become active tools once JavaScript enters the course in Week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 slide before moving into industry relevance.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card to something students recognize from their own browsing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brief — 2-3 minutes. The point is connecting today's material to a current, practical habit, not teaching AI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the opening question about div-soup — ask who would build hello.html differently now. Preview Week 3: 'CSS finally styles everything we structured today.'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0624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6F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· UNDERGRADUATE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241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HTML and Forms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From tags that look right to tags that mean something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5806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CLO1 (primary), CLO2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5806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– Apply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0" y="5806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50 min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Muhammad Sohail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2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semantic HTML5 elements (header, nav, main, article, section, aside, footer) instead of generic &lt;div&gt;s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accessible form with label, fieldset/legend, and the correct input type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label-for/id and alt text support accessibility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GET and POST and justify which one a form should use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HTML5 validation attributes without writing JavaScript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Hand-write a document combining structure, tables, lists, and media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1554480"/>
            <a:ext cx="4023360" cy="4754880"/>
          </a:xfrm>
          <a:prstGeom prst="roundRect">
            <a:avLst>
              <a:gd name="adj" fmla="val 2727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0" y="2194560"/>
            <a:ext cx="3474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form you build for the rest of this course — Week 8's fetch(), Week 11's Express routes, Week 13's login — depends on getting the HTML side right first.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0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 — LAB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Already Know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skeleton: &lt;!DOCTYPE html&gt;, &lt;html&gt;, &lt;head&gt;, &lt;body&gt;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Opening/closing tags vs. void elements (&lt;img&gt;, &lt;br&gt;)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content tags: &lt;h1&gt;–&lt;h6&gt;, &lt;p&gt;, &lt;a href&gt;, &lt;img src alt&gt;, &lt;ul&gt;/&lt;ol&gt;/&lt;li&gt;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1554480"/>
            <a:ext cx="4023360" cy="4754880"/>
          </a:xfrm>
          <a:prstGeom prst="roundRect">
            <a:avLst>
              <a:gd name="adj" fmla="val 2727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RUSTY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0" y="2194560"/>
            <a:ext cx="3474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hello.html from memory right now, before we continue. Everything today builds directly on top of that skeleton.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0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&lt;div&gt; vs. a Semantic Tag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&lt;div class="top"&gt;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nothing about what's inside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meaningful because of a class name you invented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to screen readers as a landmark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 give it no special weight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737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&lt;header&gt;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exactly what this region is, for free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naming scheme required — the tag is the meaning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readers announce it as a page landmark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 use it to understand page structure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2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806440"/>
          </a:xfrm>
          <a:prstGeom prst="roundRect">
            <a:avLst>
              <a:gd name="adj" fmla="val 1890"/>
            </a:avLst>
          </a:prstGeom>
          <a:solidFill>
            <a:srgbClr val="E4E7F2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2296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“More &lt;div&gt;s give me more control, so I should use them for everything.”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9509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 a &lt;div&gt; is a generic container with no built-in meaning — a last resort, not a default.</a:t>
            </a:r>
            <a:endParaRPr lang="en-US" sz="16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 (header, nav, main, article, section, aside, footer) tell browsers, search engines, and screen readers what a region is for, at zero extra cost.</a:t>
            </a:r>
            <a:endParaRPr lang="en-US" sz="16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typing &lt;div&gt;, ask: does a semantic tag already describe this region?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0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SEMANTIC HTML5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Semantic Elements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84632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Content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&lt;header&gt;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Introductory content for a page/section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Logo, title, search 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&lt;nav&gt;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block of major navigation links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Menu, breadcrumb trail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&lt;main&gt;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one dominant content (only one per page)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central content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&lt;article&gt;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Self-contained content, makes sense alone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 post, news 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&lt;section&gt;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thematic grouping with its own heading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chapter, a tabbed panel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&lt;aside&gt;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indirectly related to main content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Sidebar, related links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&lt;footer&gt;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 content for a page/section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Copyright, contact info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7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SEMANTIC HTML5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Layout, Built Entirely From Semantic Regions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9344"/>
            <a:ext cx="10881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&lt;header&gt;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2082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title, logo, search box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23744"/>
            <a:ext cx="108813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&lt;nav&gt;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75234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site navigation links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6746443" cy="2331720"/>
          </a:xfrm>
          <a:prstGeom prst="roundRect">
            <a:avLst>
              <a:gd name="adj" fmla="val 2353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55264"/>
            <a:ext cx="6746443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&lt;main&gt;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6380683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content — often several &lt;article&gt; elements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23683" y="3200400"/>
            <a:ext cx="3997757" cy="2331720"/>
          </a:xfrm>
          <a:prstGeom prst="roundRect">
            <a:avLst>
              <a:gd name="adj" fmla="val 2353"/>
            </a:avLst>
          </a:prstGeom>
          <a:solidFill>
            <a:srgbClr val="2C5F7A"/>
          </a:solidFill>
          <a:ln/>
        </p:spPr>
      </p:sp>
      <p:sp>
        <p:nvSpPr>
          <p:cNvPr id="14" name="Text 12"/>
          <p:cNvSpPr/>
          <p:nvPr/>
        </p:nvSpPr>
        <p:spPr>
          <a:xfrm>
            <a:off x="7523683" y="3255264"/>
            <a:ext cx="399775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&lt;aside&gt;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06563" y="3703320"/>
            <a:ext cx="3631997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links, widgets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566928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3E7C5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724144"/>
            <a:ext cx="10881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&lt;footer&gt;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contact info, sitemap links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21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“Div-Soup” Into Semantic HTML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241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                             AFTER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class="top"&gt;My Site&lt;/div&gt;      &lt;header&gt;My Site&lt;/header&gt;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class="links"&gt;...&lt;/div&gt;        &lt;nav&gt;...&lt;/nav&gt;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class="content"&gt;...&lt;/div&gt;      &lt;main&gt;...&lt;/main&gt;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class="bottom"&gt;© 2026&lt;/div&gt;    &lt;footer&gt;© 2026&lt;/footer&gt;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visual result either way — but only the right-hand version tells a screen reader or search engine what each region actually is.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9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806440"/>
          </a:xfrm>
          <a:prstGeom prst="roundRect">
            <a:avLst>
              <a:gd name="adj" fmla="val 1890"/>
            </a:avLst>
          </a:prstGeom>
          <a:solidFill>
            <a:srgbClr val="EAF4F6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229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Build a Semantic Skeleton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9509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page.html, recreate the wireframe from the previous diagram slide</a:t>
            </a:r>
            <a:endParaRPr lang="en-US" sz="16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&lt;header&gt; with a heading, a &lt;nav&gt; with 3 links, a &lt;main&gt; with one &lt;article&gt;, an &lt;aside&gt;, and a &lt;footer&gt;</a:t>
            </a:r>
            <a:endParaRPr lang="en-US" sz="16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result: View Source shows a clean, meaningful tag structure — no &lt;div&gt; soup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0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TABLES AND LISTS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 and Lists, Correctly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&lt;table&gt; exists for one purpose: tabular data — rows and columns of related values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used for page layout — an abandoned 1990s–2000s practice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&lt;thead&gt;/&lt;tbody&gt; separate header rows from body rows — not cosmetic, screen readers use it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are unchanged from Lab 1: &lt;ul&gt;/&lt;ol&gt;/&lt;li&gt;, including nesting a full list inside one &lt;li&gt;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7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FORMS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Forms: Collecting Real Input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&lt;form&gt; groups input controls and packages their values to send somewhere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— the URL the data is sent to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— GET or POST (section 5.4) — how it is sent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 feature you build later this semester starts as a form submission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1554480"/>
            <a:ext cx="4023360" cy="4754880"/>
          </a:xfrm>
          <a:prstGeom prst="roundRect">
            <a:avLst>
              <a:gd name="adj" fmla="val 2727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0" y="2194560"/>
            <a:ext cx="3474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intercepts this exact submission with JavaScript. Week 11 builds the server route that finally receives it. The HTML you write today doesn't change.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0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FORMS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Building Blocks of a Form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592324" y="2468880"/>
            <a:ext cx="1175004" cy="73152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2592324" y="2468880"/>
            <a:ext cx="11750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&lt;label&gt;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179826" y="3200400"/>
            <a:ext cx="0" cy="18288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72284" y="3401568"/>
            <a:ext cx="18150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field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95344" y="2468880"/>
            <a:ext cx="1175004" cy="73152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895344" y="2468880"/>
            <a:ext cx="11750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&lt;input&gt;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482846" y="3200400"/>
            <a:ext cx="0" cy="182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5304" y="3401568"/>
            <a:ext cx="18150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the value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98364" y="2468880"/>
            <a:ext cx="1298448" cy="731520"/>
          </a:xfrm>
          <a:prstGeom prst="roundRect">
            <a:avLst>
              <a:gd name="adj" fmla="val 6250"/>
            </a:avLst>
          </a:prstGeom>
          <a:solidFill>
            <a:srgbClr val="2C5F7A"/>
          </a:solidFill>
          <a:ln/>
        </p:spPr>
      </p:sp>
      <p:sp>
        <p:nvSpPr>
          <p:cNvPr id="13" name="Text 11"/>
          <p:cNvSpPr/>
          <p:nvPr/>
        </p:nvSpPr>
        <p:spPr>
          <a:xfrm>
            <a:off x="5198364" y="2468880"/>
            <a:ext cx="1298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&lt;select&gt;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847588" y="3200400"/>
            <a:ext cx="0" cy="182880"/>
          </a:xfrm>
          <a:prstGeom prst="line">
            <a:avLst/>
          </a:prstGeom>
          <a:noFill/>
          <a:ln w="19050">
            <a:solidFill>
              <a:srgbClr val="2C5F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8324" y="3401568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choice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4828" y="2468880"/>
            <a:ext cx="1545336" cy="731520"/>
          </a:xfrm>
          <a:prstGeom prst="roundRect">
            <a:avLst>
              <a:gd name="adj" fmla="val 6250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6624828" y="2468880"/>
            <a:ext cx="15453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&lt;textarea&gt;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397496" y="3200400"/>
            <a:ext cx="0" cy="18288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4788" y="3401568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text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98180" y="2468880"/>
            <a:ext cx="1298448" cy="731520"/>
          </a:xfrm>
          <a:prstGeom prst="roundRect">
            <a:avLst>
              <a:gd name="adj" fmla="val 6250"/>
            </a:avLst>
          </a:prstGeom>
          <a:solidFill>
            <a:srgbClr val="1E6B3C"/>
          </a:solidFill>
          <a:ln/>
        </p:spPr>
      </p:sp>
      <p:sp>
        <p:nvSpPr>
          <p:cNvPr id="21" name="Text 19"/>
          <p:cNvSpPr/>
          <p:nvPr/>
        </p:nvSpPr>
        <p:spPr>
          <a:xfrm>
            <a:off x="8298180" y="2468880"/>
            <a:ext cx="1298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947404" y="3200400"/>
            <a:ext cx="0" cy="182880"/>
          </a:xfrm>
          <a:prstGeom prst="line">
            <a:avLst/>
          </a:prstGeom>
          <a:noFill/>
          <a:ln w="19050">
            <a:solidFill>
              <a:srgbClr val="1E6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78140" y="3401568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the form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26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806440"/>
          </a:xfrm>
          <a:prstGeom prst="roundRect">
            <a:avLst>
              <a:gd name="adj" fmla="val 1890"/>
            </a:avLst>
          </a:prstGeom>
          <a:solidFill>
            <a:srgbClr val="FCEFDD"/>
          </a:solidFill>
          <a:ln w="19050">
            <a:solidFill>
              <a:srgbClr val="C97A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22960"/>
            <a:ext cx="594360" cy="594360"/>
          </a:xfrm>
          <a:prstGeom prst="ellipse">
            <a:avLst/>
          </a:prstGeom>
          <a:solidFill>
            <a:srgbClr val="C97A1E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NOTE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Labels Are Not Optional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9509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&lt;label for="email"&gt;Email&lt;/label&gt;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&lt;input type="email" id="email" name="email"&gt;</a:t>
            </a:r>
            <a:endParaRPr lang="en-US" sz="14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the label text focuses the input — a real usability win, not just accessibility.</a:t>
            </a:r>
            <a:endParaRPr lang="en-US" sz="14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 reader announces “Email, edit text” instead of just “edit text”. Every graded form in this course checks for this.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0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FORMS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Input Type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657600"/>
                <a:gridCol w="5486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type="text"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single-line text — the default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type="email"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@-shape; mobile shows @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type="password"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Characters masked as typed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type="number" min 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Spinner; numeric keypad on mobile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type="date"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date picker, no JS calendar 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type="checkbox"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on/off, several at once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type="radio" name="g"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choice among a group — shared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type="file" accept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OS file picker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7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806440"/>
          </a:xfrm>
          <a:prstGeom prst="roundRect">
            <a:avLst>
              <a:gd name="adj" fmla="val 1890"/>
            </a:avLst>
          </a:prstGeom>
          <a:solidFill>
            <a:srgbClr val="EAF4F6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229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Build a Registration Form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9509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register.html, inside a &lt;fieldset&gt; with &lt;legend&gt;Create Your Account&lt;/legend&gt;:</a:t>
            </a:r>
            <a:endParaRPr lang="en-US" sz="16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input (Full Name), email input, password input</a:t>
            </a:r>
            <a:endParaRPr lang="en-US" sz="16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group (Campus, ≥2 options sharing one name), select dropdown (Degree, ≥3 options), submit button</a:t>
            </a:r>
            <a:endParaRPr lang="en-US" sz="16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needs a matching &lt;label&gt;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0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FORMS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Validating Input Without a Single Line of JavaScript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241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type="text" required minlength="3" maxlength="40"&gt;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type="password" required pattern=".{8,}" title="At least 8 characters"&gt;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type="number" min="18" max="65"&gt;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blocks empty submission · minlength/maxlength bound length · pattern is a regex the value must match.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9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806440"/>
          </a:xfrm>
          <a:prstGeom prst="roundRect">
            <a:avLst>
              <a:gd name="adj" fmla="val 1890"/>
            </a:avLst>
          </a:prstGeom>
          <a:solidFill>
            <a:srgbClr val="EFE7F7"/>
          </a:solidFill>
          <a:ln w="19050">
            <a:solidFill>
              <a:srgbClr val="5B3A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22960"/>
            <a:ext cx="594360" cy="594360"/>
          </a:xfrm>
          <a:prstGeom prst="ellipse">
            <a:avLst/>
          </a:prstGeom>
          <a:solidFill>
            <a:srgbClr val="5B3A8E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5B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Client-Side Validation Is Not Security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9509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required, pattern, minlength — all enforced by the browser, all bypassable by a determined user (disable JS, use curl/Postman).</a:t>
            </a:r>
            <a:endParaRPr lang="en-US" sz="16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(Authentication and Security) shows exactly why every one of these checks must be repeated on the server. Never trust the client.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0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GET VS. POST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Form, Two Ways to Send 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rides in the URL query string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Visible, bookmarkable, cacheable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size (~2000 characters)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repeat — should only retrieve data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search boxes, filters, links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737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rides in the hidden request body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cached by default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unlimited size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changes server state — don't repeat blindly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login, registration, uploads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2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806440"/>
          </a:xfrm>
          <a:prstGeom prst="roundRect">
            <a:avLst>
              <a:gd name="adj" fmla="val 1890"/>
            </a:avLst>
          </a:prstGeom>
          <a:solidFill>
            <a:srgbClr val="E4F3E9"/>
          </a:solidFill>
          <a:ln w="19050">
            <a:solidFill>
              <a:srgbClr val="1E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22960"/>
            <a:ext cx="594360" cy="594360"/>
          </a:xfrm>
          <a:prstGeom prst="ellipse">
            <a:avLst/>
          </a:prstGeom>
          <a:solidFill>
            <a:srgbClr val="1E6B3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AND CHECK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about it for 60 seconds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9509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 box that filters lecture notes, and a login form that submits a password — which method should each use, and why?</a:t>
            </a:r>
            <a:endParaRPr lang="en-US" sz="16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wrong, specifically, if you get this backwards?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0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MULTIMEDIA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Multimedia (Brief)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&lt;figure&gt; + &lt;figcaption&gt; — self-contained media with a caption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&lt;audio controls&gt; and &lt;video controls&gt; — without controls, no visible play/pause UI at all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is not optional</a:t>
            </a:r>
            <a:endParaRPr lang="en-US" sz="1600" dirty="0"/>
          </a:p>
          <a:p>
            <a:pPr lvl="1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meaningful &lt;img&gt; needs alt text; a purely decorative image uses alt="" (empty, not omitted)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1554480"/>
            <a:ext cx="4023360" cy="4754880"/>
          </a:xfrm>
          <a:prstGeom prst="roundRect">
            <a:avLst>
              <a:gd name="adj" fmla="val 2727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0" y="2194560"/>
            <a:ext cx="3474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only the alt text and figcaption in your Step-1 page, ignoring the image. That's exactly what a screen reader user experiences.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0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806440"/>
          </a:xfrm>
          <a:prstGeom prst="roundRect">
            <a:avLst>
              <a:gd name="adj" fmla="val 1890"/>
            </a:avLst>
          </a:prstGeom>
          <a:solidFill>
            <a:srgbClr val="FCEFDD"/>
          </a:solidFill>
          <a:ln w="19050">
            <a:solidFill>
              <a:srgbClr val="C97A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22960"/>
            <a:ext cx="594360" cy="594360"/>
          </a:xfrm>
          <a:prstGeom prst="ellipse">
            <a:avLst/>
          </a:prstGeom>
          <a:solidFill>
            <a:srgbClr val="C97A1E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NOTE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Sections 6–7: A Reference Tour, Not a Full Lecture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9509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slides cover a wide, industry-common tag vocabulary — more than fits live in the time remaining.</a:t>
            </a:r>
            <a:endParaRPr lang="en-US" sz="16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Live-demo 2–3 (suggested: 6.1 strong/em vs b/i, and 7.1 details/summary), assign the rest as guided reading with the rendered-output figures before the lab.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0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TEXT-LEVEL SEMANTICS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 vs. Appearance: strong/b, em/i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241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strong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Strong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strong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&amp;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strong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tells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assistive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"this is important."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Emphasis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Italic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&amp;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carries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stressed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meaning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&lt;strong&gt;/&lt;em&gt; — reach for &lt;b&gt;/&lt;i&gt; only when there truly is no semantic weight (e.g. a species name).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9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TEXT-LEVEL SEMANTICS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Rendered Output</a:t>
            </a:r>
            <a:endParaRPr lang="en-US" sz="2700" dirty="0"/>
          </a:p>
        </p:txBody>
      </p:sp>
      <p:pic>
        <p:nvPicPr>
          <p:cNvPr id="4" name="Image 0" descr="/tmp/eduforge/week02/img/output/text_seman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976443"/>
            <a:ext cx="9601200" cy="21735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rendering, different meaning — a screen reader treats the left word of each pair as more important than the right.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8" name="Image 1" descr="/tmp/eduforge/assets/nus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HIGHLIGHTING, FINE PRINT, SCRIPTS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&lt;mark&gt;, &lt;small&gt;, &lt;sub&gt;, &lt;sup&gt;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241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small, frequently used tags for common everyday text situations.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9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HIGHLIGHTING, FINE PRINT, SCRIPTS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Rendered Output</a:t>
            </a:r>
            <a:endParaRPr lang="en-US" sz="2700" dirty="0"/>
          </a:p>
        </p:txBody>
      </p:sp>
      <p:pic>
        <p:nvPicPr>
          <p:cNvPr id="4" name="Image 0" descr="/tmp/eduforge/week02/img/output/mark_small_sub_s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76" y="2050093"/>
            <a:ext cx="5486400" cy="33064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&lt;mark&gt; highlights, &lt;small&gt; shrinks fine print, &lt;sub&gt;/&lt;sup&gt; position formulas and exponents correctly.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8" name="Image 1" descr="/tmp/eduforge/assets/nus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SHOWING EDITS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&lt;del&gt; and &lt;ins&gt;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241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Registration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2,500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1,800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content that changed and you want the reader to see both the old and new value.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9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SHOWING EDITS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Rendered Output</a:t>
            </a:r>
            <a:endParaRPr lang="en-US" sz="2700" dirty="0"/>
          </a:p>
        </p:txBody>
      </p:sp>
      <p:pic>
        <p:nvPicPr>
          <p:cNvPr id="4" name="Image 0" descr="/tmp/eduforge/week02/img/output/del_i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476" y="2086256"/>
            <a:ext cx="6858000" cy="22282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&lt;del&gt; renders as strikethrough, &lt;ins&gt; as underline — the browser's default way of showing a tracked change.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8" name="Image 1" descr="/tmp/eduforge/assets/nus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QUOTATIONS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&lt;blockquote&gt; vs. &lt;q&gt;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241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blockquote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"https://www.nust.edu.pk"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NUST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committed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excellence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science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technology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blockquote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saying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goes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often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written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&lt;blockquote&gt; = long, block-level quote. &lt;q&gt; = short, inline quote — the browser adds quotation marks automatically.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9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QUOTATIONS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Rendered Output</a:t>
            </a:r>
            <a:endParaRPr lang="en-US" sz="2700" dirty="0"/>
          </a:p>
        </p:txBody>
      </p:sp>
      <p:pic>
        <p:nvPicPr>
          <p:cNvPr id="4" name="Image 0" descr="/tmp/eduforge/week02/img/output/blockquote_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076" y="2051971"/>
            <a:ext cx="8686800" cy="20225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&lt;blockquote&gt; breaks onto its own indented block; &lt;q&gt; stays inline with automatic quotation marks.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8" name="Image 1" descr="/tmp/eduforge/assets/nus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ABBREVIATIONS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&lt;abbr title="..."&gt;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241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abbr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"World Wide Web Consortium"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W3C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abbr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maintains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speaking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sighted users a hover tooltip, and gives screen readers the option to read the full expansion.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9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ABBREVIATIONS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Rendered Output</a:t>
            </a:r>
            <a:endParaRPr lang="en-US" sz="2700" dirty="0"/>
          </a:p>
        </p:txBody>
      </p:sp>
      <p:pic>
        <p:nvPicPr>
          <p:cNvPr id="4" name="Image 0" descr="/tmp/eduforge/week02/img/output/abb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2070754"/>
            <a:ext cx="9144000" cy="18020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dotted underline is the browser's default signal that hovering will reveal a full expansion.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8" name="Image 1" descr="/tmp/eduforge/assets/nus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 DESCRIPTION LISTS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&lt;dl&gt;, &lt;dt&gt;, &lt;dd&gt;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241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behaviour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interactivity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list type — for term/definition pairs, not sequences or unordered items.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9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 DESCRIPTION LISTS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Rendered Output</a:t>
            </a:r>
            <a:endParaRPr lang="en-US" sz="2700" dirty="0"/>
          </a:p>
        </p:txBody>
      </p:sp>
      <p:pic>
        <p:nvPicPr>
          <p:cNvPr id="4" name="Image 0" descr="/tmp/eduforge/week02/img/output/dl_dt_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5596" y="1949107"/>
            <a:ext cx="4937760" cy="35084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&lt;dt&gt; (term) is followed by one or more &lt;dd&gt; (descriptions) — exactly the shape of a glossary.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8" name="Image 1" descr="/tmp/eduforge/assets/nus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 MORE EVERYDAY TAGS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27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389120"/>
                <a:gridCol w="4389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&lt;hr&gt;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thematic break between sections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 unrelated blocks of a long article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&lt;code&gt; / &lt;pre&gt;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code / preformatted multi-line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seen in every code block today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&lt;kbd&gt; / &lt;samp&gt;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Keyboard input / sample program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&lt;kbd&gt;Ctrl&lt;/kbd&gt;+&lt;kbd&gt;S&lt;/kbd&gt; → &lt;samp&gt;Saved&lt;/samp&gt;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&lt;cite&gt;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title of a creative work being referenced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&lt;cite&gt;HTML &amp; CSS&lt;/cite&gt; by Jon Duckett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&lt;address&gt;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info for a page/article's author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Email, physical address, social link in a footer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7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DISCLOSURE WIDGETS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&lt;details&gt; and &lt;summary&gt;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241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meaning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appearance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native, zero-JavaScript collapsible section. Add the open attribute to start expanded.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9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DISCLOSURE WIDGETS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Rendered Output — Closed and Open</a:t>
            </a:r>
            <a:endParaRPr lang="en-US" sz="2700" dirty="0"/>
          </a:p>
        </p:txBody>
      </p:sp>
      <p:pic>
        <p:nvPicPr>
          <p:cNvPr id="4" name="Image 0" descr="/tmp/eduforge/week02/img/output/details_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1855382"/>
            <a:ext cx="9875520" cy="1867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(left) and open (right) — the disclosure triangle and the show/hide behaviour are both built into the browser.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8" name="Image 1" descr="/tmp/eduforge/assets/nus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PROGRESS AND MEASUREMENT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&lt;progress&gt; vs. &lt;meter&gt;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&lt;progress&gt;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of a task moving toward 100%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file upload, a multi-step form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as a blue-filling bar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737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&lt;meter&gt;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within a known range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necessarily progress toward completion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disk usage, battery level, a poll result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2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PROGRESS AND MEASUREMENT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241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"70"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"100"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70%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meter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"0.6"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meter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60%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8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PROGRESS AND MEASUREMENT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Rendered Output</a:t>
            </a:r>
            <a:endParaRPr lang="en-US" sz="2700" dirty="0"/>
          </a:p>
        </p:txBody>
      </p:sp>
      <p:pic>
        <p:nvPicPr>
          <p:cNvPr id="4" name="Image 0" descr="/tmp/eduforge/week02/img/output/progress_me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6876" y="1870816"/>
            <a:ext cx="7315200" cy="2567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&lt;progress&gt; (blue) implies motion toward completion; &lt;meter&gt; (green/amber/red by range) implies a static gauge reading.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8" name="Image 1" descr="/tmp/eduforge/assets/nus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ADVANCED TABLES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colspan, rowspan, and &lt;caption&gt;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241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caption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Grading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Breakdown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caption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colspan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rowspan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Individual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5%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tabular data is rarely a simple grid — colspan/rowspan handle merged cells, &lt;caption&gt; is an accessibility landmark.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9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ADVANCED TABLES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Rendered Output</a:t>
            </a:r>
            <a:endParaRPr lang="en-US" sz="2700" dirty="0"/>
          </a:p>
        </p:txBody>
      </p:sp>
      <p:pic>
        <p:nvPicPr>
          <p:cNvPr id="4" name="Image 0" descr="/tmp/eduforge/week02/img/output/table_advanc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4156" y="1993819"/>
            <a:ext cx="5120640" cy="34190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colspan="2" merges the Details columns; rowspan="2" merges Assignments down across both data rows.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8" name="Image 1" descr="/tmp/eduforge/assets/nus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ADVANCED LINKS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target, rel, download, URI Schemes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241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"https://developer.mozilla.org"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"_blank"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"noopener noreferrer"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MDN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"notes.pdf"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"mailto:cs313@nust.edu.pk"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instructor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"tel:+92511234567"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office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target="_blank" always needs rel="noopener noreferrer" — without it, the new tab can redirect your original tab. A real security risk.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9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ADVANCED LINKS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Rendered Output</a:t>
            </a:r>
            <a:endParaRPr lang="en-US" sz="2700" dirty="0"/>
          </a:p>
        </p:txBody>
      </p:sp>
      <p:pic>
        <p:nvPicPr>
          <p:cNvPr id="4" name="Image 0" descr="/tmp/eduforge/week02/img/output/links_advanc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8476" y="1986846"/>
            <a:ext cx="4572000" cy="34329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different link behaviours from one tag: new tab, forced download, a pre-filled email, a phone dialer on mobile.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8" name="Image 1" descr="/tmp/eduforge/assets/nus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RESPONSIVE IMAGES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Serving the Right Image, Automatically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srcset / sizes — the browser picks the best-fitting file for the visitor's screen, not your code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loading="lazy" — defers downloading an image until the visitor scrolls near it</a:t>
            </a:r>
            <a:endParaRPr lang="en-US" sz="1600" dirty="0"/>
          </a:p>
          <a:p>
            <a:pPr lvl="1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&lt;picture&gt; — true art direction (a different crop, not just resolution) for mobile vs. desktop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1554480"/>
            <a:ext cx="4023360" cy="4754880"/>
          </a:xfrm>
          <a:prstGeom prst="roundRect">
            <a:avLst>
              <a:gd name="adj" fmla="val 2727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HERE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0" y="2194560"/>
            <a:ext cx="3474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Pakistani mobile users on limited data plans are exactly who these attributes help most — a one-word performance win.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0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 OTHER MODERN TAGS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— You'll Meet These Again</a:t>
            </a:r>
            <a:endParaRPr lang="en-US" sz="27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97680"/>
                <a:gridCol w="4389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 / Attribute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You'll Meet It Again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&lt;dialog&gt;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native modal dialog 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 (DOM Manipulation)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&lt;template&gt;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Inert markup, cloned later by JS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 (DOM Manipulation)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&lt;iframe&gt;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Embeds another document — always sandbox untrusted content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13 (Security)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&lt;time datetime&gt;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Human-readable date + machine-readable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 onward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data-* attributes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data stored directly on an element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 — read via JS's dataset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7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Piece Sits</a:t>
            </a:r>
            <a:endParaRPr lang="en-US" sz="27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Covered 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structure / 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elements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5.1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Tabular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&lt;table&gt;, &lt;thead&gt;, &lt;tbody&gt;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5.2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Collecting user 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&lt;form&gt;, &lt;label&gt;, &lt;input&gt; types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5.3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input is transmitted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vs. POST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5.4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 media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&lt;figure&gt;, &lt;audio&gt;, &lt;video&gt;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5.5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Meaningful text formatting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strong/em, mark, del/ins, blockquote/q, dl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/ modern widgets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details/summary, progress/meter, advanced tables &amp; links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7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Shows Up in Industry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2377440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Compliance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715768"/>
            <a:ext cx="21122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requirement for gov't/corporate sites — built on semantic HTML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60020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3630168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630168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30168" y="2377440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Agencies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30168" y="2715768"/>
            <a:ext cx="21122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sites for exactly the structure covered in section 5.1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19088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19088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19088" y="2377440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Lead-Gen Forms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19088" y="2715768"/>
            <a:ext cx="21122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signup/checkout form directly costs real businesses customers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06840" y="160020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9208008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208008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08008" y="2377440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Validation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208008" y="2715768"/>
            <a:ext cx="21122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checks reduce load at scale, but never replace server checks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97764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841248" y="41605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41248" y="4754880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41248" y="5093208"/>
            <a:ext cx="21122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 on correct input types + labels to autofill correctly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29000" y="397764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/>
        </p:spPr>
      </p:sp>
      <p:sp>
        <p:nvSpPr>
          <p:cNvPr id="30" name="Shape 28"/>
          <p:cNvSpPr/>
          <p:nvPr/>
        </p:nvSpPr>
        <p:spPr>
          <a:xfrm>
            <a:off x="3630168" y="41605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3630168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630168" y="4754880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Pages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630168" y="5093208"/>
            <a:ext cx="21122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always built from &lt;details&gt;/&lt;summary&gt; — faster and more accessible than custom JS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97764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419088" y="41605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6419088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419088" y="4754880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Performance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419088" y="5093208"/>
            <a:ext cx="21122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srcset/loading="lazy" are standard Lighthouse audit checkpoints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06840" y="397764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/>
        </p:spPr>
      </p:sp>
      <p:sp>
        <p:nvSpPr>
          <p:cNvPr id="40" name="Shape 38"/>
          <p:cNvSpPr/>
          <p:nvPr/>
        </p:nvSpPr>
        <p:spPr>
          <a:xfrm>
            <a:off x="9208008" y="41605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1" name="Text 39"/>
          <p:cNvSpPr/>
          <p:nvPr/>
        </p:nvSpPr>
        <p:spPr>
          <a:xfrm>
            <a:off x="9208008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208008" y="4754880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You, Next Week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208008" y="5093208"/>
            <a:ext cx="21122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CSS styles exactly what you structured today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46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806440"/>
          </a:xfrm>
          <a:prstGeom prst="roundRect">
            <a:avLst>
              <a:gd name="adj" fmla="val 1890"/>
            </a:avLst>
          </a:prstGeom>
          <a:solidFill>
            <a:srgbClr val="EAF4F6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229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Extension — AI Code Generation and Accessibility (optional, not exam material)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9509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assistants, left unguided, default to div-soup — because it looks correct, and looking correct is often all a quick prompt checks for</a:t>
            </a:r>
            <a:endParaRPr lang="en-US" sz="16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auditing tools (Lighthouse, axe DevTools, WAVE) exist to catch exactly this gap</a:t>
            </a:r>
            <a:endParaRPr lang="en-US" sz="16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AI-generated HTML like a classmate's pull request: check tag choices, label associations, and alt text before accepting 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0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241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tags for what they mean, not just how they look — CSS (next week) handles appearance</a:t>
            </a:r>
            <a:endParaRPr lang="en-US" sz="1600" dirty="0"/>
          </a:p>
          <a:p>
            <a:pPr marL="254000" indent="-2540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&lt;input&gt; needs a &lt;label&gt; linked by for/id — accessibility and usability, together</a:t>
            </a:r>
            <a:endParaRPr lang="en-US" sz="1600" dirty="0"/>
          </a:p>
          <a:p>
            <a:pPr marL="254000" indent="-2540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exposes data and is safe to repeat; POST hides data and often changes state — don't mix these up</a:t>
            </a:r>
            <a:endParaRPr lang="en-US" sz="1600" dirty="0"/>
          </a:p>
          <a:p>
            <a:pPr marL="254000" indent="-2540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validation attributes are a usability layer, never a security layer</a:t>
            </a:r>
            <a:endParaRPr lang="en-US" sz="1600" dirty="0"/>
          </a:p>
          <a:p>
            <a:pPr marL="254000" indent="-2540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Visually-identical tag pairs (strong/b, em/i, blockquote/q, progress/meter) differ in meaning, not appearance</a:t>
            </a:r>
            <a:endParaRPr lang="en-US" sz="1600" dirty="0"/>
          </a:p>
          <a:p>
            <a:pPr marL="254000" indent="-2540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wide, correct tag vocabulary is what separates HTML that renders from HTML a real team can maintain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7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EduForge</dc:creator>
  <cp:lastModifiedBy>EduForge</cp:lastModifiedBy>
  <cp:revision>1</cp:revision>
  <dcterms:created xsi:type="dcterms:W3CDTF">2026-08-25T13:41:59Z</dcterms:created>
  <dcterms:modified xsi:type="dcterms:W3CDTF">2026-08-25T13:41:59Z</dcterms:modified>
</cp:coreProperties>
</file>